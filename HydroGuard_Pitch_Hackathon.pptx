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10B981"/>
                </a:solidFill>
              </a:defRPr>
            </a:pPr>
            <a:r>
              <a:t>AGROTECH &amp; IOT SOLUTIONS • PITCH DECK 2026</a:t>
            </a:r>
          </a:p>
          <a:p>
            <a:pPr>
              <a:spcAft>
                <a:spcPts val="800"/>
              </a:spcAft>
              <a:defRPr sz="5400" b="1">
                <a:solidFill>
                  <a:srgbClr val="FFFFFF"/>
                </a:solidFill>
              </a:defRPr>
            </a:pPr>
            <a:r>
              <a:t>HYDROGUARD</a:t>
            </a:r>
          </a:p>
          <a:p>
            <a:pPr>
              <a:spcAft>
                <a:spcPts val="1800"/>
              </a:spcAft>
              <a:defRPr sz="2000">
                <a:solidFill>
                  <a:srgbClr val="D1FAE5"/>
                </a:solidFill>
              </a:defRPr>
            </a:pPr>
            <a:r>
              <a:t>Sistema de Monitoreo Inteligente con Asistencia Pasiva para Invernaderos Hidropónicos</a:t>
            </a:r>
          </a:p>
          <a:p>
            <a:pPr>
              <a:defRPr sz="1300" i="1">
                <a:solidFill>
                  <a:srgbClr val="A7F3D0"/>
                </a:solidFill>
              </a:defRPr>
            </a:pPr>
            <a:r>
              <a:t>Previniendo pérdidas productivas mediante alertas tempranas y recetas correctivas en tiempo real.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1. CONTEXTO &amp; PROBLEMÁTICA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El Problema: La Alta Fragilidad del Cultivo Hidropónico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1D48"/>
                </a:solidFill>
              </a:defRPr>
            </a:pPr>
            <a:r>
              <a:t>⚠️ Sensibilidad Química Crítica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En sistemas hidropónicos NFT, las raíces no tienen suelo como amortiguador natural.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Una caída de pH (ej. de 6.0 a 5.0) o salinidad excesiva bloquea la asimilación de nutrientes.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Una cosecha completa puede arruinarse irreversiblemente en menos de 24 horas.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7830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</a:defRPr>
            </a:pPr>
            <a:r>
              <a:t>⏳ Detección Tardía &amp; Manual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La mayoría de productores mide con tiras reactivas o lápices portátiles de forma esporádica.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La marchitez en hojas o quemaduras radiculares se notan cuando el daño ya es severo.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No existe trazabilidad de variaciones nocturnas o picos de temperatura en la solución.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7830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D4ED8"/>
                </a:solidFill>
              </a:defRPr>
            </a:pPr>
            <a:r>
              <a:t>⚡ Dependencia Energética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Las bombas de recirculación de agua y oxigenación dependen 100% de la energía eléctrica.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Un corte de luz sin aviso detiene el flujo y seca las raíces en 30 minutos.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Falta de visibilidad sobre el nivel de combustible del generador o carga de baterías solares.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1. CONTEXTO &amp; PROBLEMÁTICA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¿Por qué las soluciones tradicionales no resuelven el problema?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097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1D48"/>
                </a:solidFill>
              </a:defRPr>
            </a:pPr>
            <a:r>
              <a:t>❌ 1. Automatizaciones 'Ciegas' Peligrosas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Sistemas que inyectan químicos automáticamente con electroválvulas suelen fallar por bombas trabadas.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La sobredosificación automática de ácidos quema cultivos enteros sin supervisión humana.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645920"/>
            <a:ext cx="5175504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55664" y="1783080"/>
            <a:ext cx="48097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1D48"/>
                </a:solidFill>
              </a:defRPr>
            </a:pPr>
            <a:r>
              <a:t>❌ 2. Costos Prohibitivos de Hardware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Soluciones industriales importadas exigen inversiones superiores a los $10,000 USD.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Inaccesible para más del 90% de los productores agrícolas de la región.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75504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799"/>
            <a:ext cx="48097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</a:defRPr>
            </a:pPr>
            <a:r>
              <a:t>⚠️ 3. Alertas Frías que no Guían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Los sistemas convencionales solo avisan 'pH fuera de rango', sin indicar qué cantidad de buffer añadir.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El productor pierde tiempo valioso calculando proporciones manualmente bajo presión.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3977639"/>
            <a:ext cx="5175504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4114799"/>
            <a:ext cx="48097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</a:defRPr>
            </a:pPr>
            <a:r>
              <a:t>⚠️ 4. Planes Rígidos 'Todo o Nada'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Obligan a comprar módulos para generadores o paneles solares que el productor básico no posee.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Falta de una plataforma modular que escale junto con el crecimiento de la finca.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2. PROPUESTA DE VALOR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Nuestra Solución: Monitoreo Integral + Asistencia Pasiva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4E3B"/>
                </a:solidFill>
              </a:defRPr>
            </a:pPr>
            <a:r>
              <a:t>📡 Monitoreo Continuo IoT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Sensores en Tanques: pH, EC Nutrientes, Nivel de Agua, Temp Líquido, Caudal, Oxígeno Disuelto.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Microclima Invernadero: Temp Aire, Humedad, Radiación Solar, CO₂ y Flujo de Aire.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Transmisión en tiempo real vía microcontroladores ESP32 de bajo costo.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7830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4E3B"/>
                </a:solidFill>
              </a:defRPr>
            </a:pPr>
            <a:r>
              <a:t>🛡️ Filosofía de Asistencia Pasiva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El sistema NO acciona motores a ciegas: protege la inversión evitando accidentes de sobredosificación.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Calcula la corrección matemática exacta y le receta al productor el paso a paso.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Seguridad agronómica garantizada con control humano en el circuito.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7830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4E3B"/>
                </a:solidFill>
              </a:defRPr>
            </a:pPr>
            <a:r>
              <a:t>👑 Modelo Modular por Suscripción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Plan Base: Monitoreo de 4 tanques + Microclima + Recordatorios de tareas.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Plan Estándar: Suma monitoreo de Generador Diésel y combustible.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Plan Premium: Suma banco de Baterías de Litio y Paneles Solares.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2. TECNOLOGÍA CENTRAL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La Innovación: De una Alerta Fría a una Receta Agronómica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E11D48"/>
                </a:solidFill>
              </a:defRPr>
            </a:pPr>
            <a:r>
              <a:t>❌ El Enfoque Tradicional (Inútil)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Alerta en pantalla: '¡PELIGRO! pH ácido (5.0 pH) en Tanque 1'.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Consecuencia: El productor entra en pánico.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Dilema: ¿Cuánto buffer pH+ agrego para 1000 Litros?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Riesgo: Si agrega de más, sube el pH a 7.5 y bloquea el hierro, dañando la cosecha.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645920"/>
            <a:ext cx="5175504" cy="4389120"/>
          </a:xfrm>
          <a:prstGeom prst="roundRect">
            <a:avLst/>
          </a:prstGeom>
          <a:solidFill>
            <a:srgbClr val="ECFDF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55664" y="1783080"/>
            <a:ext cx="4809744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4E3B"/>
                </a:solidFill>
              </a:defRPr>
            </a:pPr>
            <a:r>
              <a:t>✅ Con HydroGuard (Receta Asistida)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Diagnóstico: pH 5.0 en Tanque #1 (Capacidad: 1000 Litros).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Dosis Calculada: 200.0 ml de Solución Buffer Incrementadora (KOH al 10%).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Paso 1: Medir exactamente 200 ml en probeta plástica limpia.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Paso 2: Diluir en un balde con 5L de agua previa.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Paso 3: Verter en el retorno del tanque con recirculación activa.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Paso 4: Esperar 30 min y el sistema verifica automáticamente la estabilización a 6.0 pH.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3. ARQUITECTURA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Arquitectura de Software &amp; Hardware Robusta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42032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1762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🔌 1. IoT Hardware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Microcontrolador ESP32-HydroGuard.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Sensores industriales de pH, EC, nivel ultrasónico y temperatura.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Heartbeat seguro con API Key por hash SHA-256.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02152" y="1645920"/>
            <a:ext cx="2542032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85032" y="1783080"/>
            <a:ext cx="21762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⚙️ 2. Backend FastAPI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API RESTful en Python de alto rendimiento asíncrono.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Ingesta de telemetría por lotes (/telemetry/ingest).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Motor de Asistencia Pasiva (AlertEngine) con fórmulas dinámicas.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72784" y="1645920"/>
            <a:ext cx="2542032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55664" y="1783080"/>
            <a:ext cx="21762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🗄️ 3. PostgreSQL DB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Modelos relacionales con SQLAlchemy.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Particionamiento temporal de lecturas para millones de filas.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Campo 'pasos_resolucion' para trazabilidad de recetas.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43416" y="1645920"/>
            <a:ext cx="2542032" cy="43891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26296" y="1783080"/>
            <a:ext cx="2176272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F172A"/>
                </a:solidFill>
              </a:defRPr>
            </a:pPr>
            <a:r>
              <a:t>💻 4. Frontend Vivo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Vanilla CSS/JS moderno de alto contraste para campo.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Botón de planes cíclico reactivo.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Panel de Acción con acordeón interactivo de recetas.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4. NEGOCIO &amp; ESCALABILIDAD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Modelo de Negocio: SaaS Modular por Escalas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4E3B"/>
                </a:solidFill>
              </a:defRPr>
            </a:pPr>
            <a:r>
              <a:t>🌱 Plan Base ($19.99/mes)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Ideal para productores familiares.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Monitoreo de hasta 4 tanques hidropónicos.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Sensores de Microclima Invernadero.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Alertas y Recetas de Asistencia Pasiva.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Recordatorios de nutrición A+B.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7830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D97706"/>
                </a:solidFill>
              </a:defRPr>
            </a:pPr>
            <a:r>
              <a:t>⚡ Plan Estándar ($39.99/mes)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Para granjas con riesgo de corte eléctrico.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Todo lo incluido en el Plan Base.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Monitoreo de Generador Diésel.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Nivel de combustible en tiempo real.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Cálculo de autonomía restante en horas.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7830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8B5CF6"/>
                </a:solidFill>
              </a:defRPr>
            </a:pPr>
            <a:r>
              <a:t>👑 Plan Premium ($59.99/mes)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Para instalaciones 100% autosuficientes.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Todo lo del Plan Estándar.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Monitoreo de Paneles Fotovoltaicos.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Banco de Baterías de Litio (% carga).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Rendimiento diario y eficiencia solar.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5. IMPACTO EN EL PRODUCTOR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Impacto Económico y Retorno de Inversión (ROI)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175504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48097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4E3B"/>
                </a:solidFill>
              </a:defRPr>
            </a:pPr>
            <a:r>
              <a:t>📉 Reducción del 85% en Pérdidas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Evita el desbalance de nutrientes y la pudrición radicular por calor o falta de oxígeno.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Salvar una sola cosecha de lechuga/frutilla paga 3 años de suscripción.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645920"/>
            <a:ext cx="5175504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55664" y="1783080"/>
            <a:ext cx="48097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4E3B"/>
                </a:solidFill>
              </a:defRPr>
            </a:pPr>
            <a:r>
              <a:t>🧪 Ahorro de Insumos Químicos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Las recetas calculan la dosis exacta en mililitros según la capacidad real del tanque.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Elimina el desperdicio por sobre-dosificación de buffers y fertilizantes.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77639"/>
            <a:ext cx="5175504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114799"/>
            <a:ext cx="48097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4E3B"/>
                </a:solidFill>
              </a:defRPr>
            </a:pPr>
            <a:r>
              <a:t>⏱️ Respuesta Inmediata en Segundos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El productor recibe la notificación y el paso a paso antes de que el cultivo sufra estrés.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Monitoreo 24/7 sin necesidad de inspecciones manuales nocturnas.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2784" y="3977639"/>
            <a:ext cx="5175504" cy="20574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5664" y="4114799"/>
            <a:ext cx="4809744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4E3B"/>
                </a:solidFill>
              </a:defRPr>
            </a:pPr>
            <a:r>
              <a:t>📱 Adopción Tecnológica Sin Fricción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Sin manuales complejos ni calibraciones engorrosas.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Interfaz pensada para el productor en el campo desde su teléfono móvil.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0B981"/>
                </a:solidFill>
              </a:defRPr>
            </a:pPr>
            <a:r>
              <a:t>6. VISIÓN DE FUTURO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Roadmap: De Prototipo a Escala Comercial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28416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064E3B"/>
                </a:solidFill>
              </a:defRPr>
            </a:pPr>
            <a:r>
              <a:t>🚀 Fase 1: MVP Funcional (HOY)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✅ Telemetría IoT en vivo con PostgreSQL.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✅ Motor de Asistencia Pasiva con recetas dinámicas.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✅ Dashboard interactivo con planes Base, Estándar y Premium.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✅ Sincronización reactiva sin hardcodeos.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25696" y="1645920"/>
            <a:ext cx="3328416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08576" y="17830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D4ED8"/>
                </a:solidFill>
              </a:defRPr>
            </a:pPr>
            <a:r>
              <a:t>📲 Fase 2: Notificaciones Directas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📲 Integración con bot de WhatsApp Business y Telegram.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🔔 Envío de recetas de emergencia directamente al teléfono del operario de turno.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📊 Reporte semanal automatizado de salud del cultivo.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19872" y="1645920"/>
            <a:ext cx="3328416" cy="4389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02752" y="1783080"/>
            <a:ext cx="2962656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8B5CF6"/>
                </a:solidFill>
              </a:defRPr>
            </a:pPr>
            <a:r>
              <a:t>🤖 Fase 3: IA Predictiva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🤖 Modelos predictivos de consumo de nutrientes según curvas de radiación solar.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📈 Detección temprana de patógenos antes de que se manifiesten en el agua.</a:t>
            </a:r>
          </a:p>
          <a:p>
            <a:pPr>
              <a:spcAft>
                <a:spcPts val="400"/>
              </a:spcAft>
              <a:defRPr sz="1150">
                <a:solidFill>
                  <a:srgbClr val="0F172A"/>
                </a:solidFill>
              </a:defRPr>
            </a:pPr>
            <a:r>
              <a:t>• 🌐 Red de sensores federada para benchmarking agronómico.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4E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800" b="1">
                <a:solidFill>
                  <a:srgbClr val="FFFFFF"/>
                </a:solidFill>
              </a:defRPr>
            </a:pPr>
            <a:r>
              <a:t>HYDROGUARD</a:t>
            </a:r>
          </a:p>
          <a:p>
            <a:pPr>
              <a:spcAft>
                <a:spcPts val="2400"/>
              </a:spcAft>
              <a:defRPr sz="2200">
                <a:solidFill>
                  <a:srgbClr val="D1FAE5"/>
                </a:solidFill>
              </a:defRPr>
            </a:pPr>
            <a:r>
              <a:t>Protegiendo el futuro de la agricultura hidropónica, una gota a la vez.</a:t>
            </a:r>
          </a:p>
          <a:p>
            <a:pPr>
              <a:defRPr sz="1600" b="1">
                <a:solidFill>
                  <a:srgbClr val="10B981"/>
                </a:solidFill>
              </a:defRPr>
            </a:pPr>
            <a:r>
              <a:t>¡Muchas Gracias! • Espacio para Preguntas y Demostración en Vivo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